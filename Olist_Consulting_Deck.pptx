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7315200" cy="7315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657600"/>
            <a:ext cx="6400800" cy="64008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DIAGNOSTIC  ·  POST-ACQUISITION VALUE CREATION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 &amp; Logistics Restructuring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operational diagnostic of a Brazilian e-commerce logistics network — finding the underperforming hubs, sizing the value at stake, and laying out the fix.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96,469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92.1%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66160" y="5532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R$1,351,431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5532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52560" y="4892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052560" y="5532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profiled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 Public Dataset by Olist  ·  Portfolio analytics project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network is reliable on average — but concentrated risk is quietly bleeding margin and reviews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7465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05740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 firm rolled up several small Brazilian logistics partners. It now needs to standardise operations, improve delivery reliability, and protect margin across the combined network.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044952"/>
            <a:ext cx="566928" cy="566928"/>
          </a:xfrm>
          <a:prstGeom prst="ellipse">
            <a:avLst/>
          </a:prstGeom>
          <a:solidFill>
            <a:srgbClr val="E1A1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449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54480" y="29352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24612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on-time is healthy at 92.1%, which masks the real problem: late deliveries are concentrated in a small set of high-volume sellers and a few weak regions — and each late order badly damages the customer.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33672"/>
            <a:ext cx="566928" cy="566928"/>
          </a:xfrm>
          <a:prstGeom prst="ellipse">
            <a:avLst/>
          </a:prstGeom>
          <a:solidFill>
            <a:srgbClr val="2E6CB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33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54480" y="41239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43484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609 "fix-immediately" sellers carry 40.7% of revenue at a 15.9% late rate. Transit (last-mile) is 74% of lead time, and late delivery cuts average review from 4.29 to 2.57.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1078992"/>
          </a:xfrm>
          <a:prstGeom prst="roundRect">
            <a:avLst>
              <a:gd name="adj" fmla="val 508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422392"/>
            <a:ext cx="566928" cy="5669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22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53126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623560"/>
            <a:ext cx="98755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the concentrated tail: fix or re-route the high-volume late sellers, consolidate fulfilment closer to demand, and renegotiate 3PL terms. Closing the gap to benchmark removes ~23% of all late deliveries.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(2016–2018)  ·  delivered orders only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five-step diagnostic, from raw transactions to a costed action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57400" cy="3383280"/>
          </a:xfrm>
          <a:prstGeom prst="roundRect">
            <a:avLst>
              <a:gd name="adj" fmla="val 266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98448" y="201168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78892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data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" y="3886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Olist tables modelled into a single-fact star schema (110K order-items) — seller, product, customer &amp; date dimensions.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88920" y="1783080"/>
            <a:ext cx="2057400" cy="3383280"/>
          </a:xfrm>
          <a:prstGeom prst="roundRect">
            <a:avLst>
              <a:gd name="adj" fmla="val 266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38728" y="201168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2" name="Text 9"/>
          <p:cNvSpPr/>
          <p:nvPr/>
        </p:nvSpPr>
        <p:spPr>
          <a:xfrm>
            <a:off x="3538728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78892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98648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delivery KPIs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935224" y="3886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%, delay, transit vs processing time, segmented by state, category and product size.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0" y="1783080"/>
            <a:ext cx="2057400" cy="3383280"/>
          </a:xfrm>
          <a:prstGeom prst="roundRect">
            <a:avLst>
              <a:gd name="adj" fmla="val 266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79008" y="201168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8" name="Text 14"/>
          <p:cNvSpPr/>
          <p:nvPr/>
        </p:nvSpPr>
        <p:spPr>
          <a:xfrm>
            <a:off x="5779008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278892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38928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&amp; score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175504" y="3886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performance matrix, a 0–100 supply-chain risk score, and a four-way root-cause decomposition.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269480" y="1783080"/>
            <a:ext cx="2057400" cy="3383280"/>
          </a:xfrm>
          <a:prstGeom prst="roundRect">
            <a:avLst>
              <a:gd name="adj" fmla="val 266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19288" y="201168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4" name="Text 19"/>
          <p:cNvSpPr/>
          <p:nvPr/>
        </p:nvSpPr>
        <p:spPr>
          <a:xfrm>
            <a:off x="8019288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278892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9208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value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415784" y="3886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revenue at risk and model the upside of closing the gap to benchmark.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9509760" y="1783080"/>
            <a:ext cx="2057400" cy="3383280"/>
          </a:xfrm>
          <a:prstGeom prst="roundRect">
            <a:avLst>
              <a:gd name="adj" fmla="val 266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59568" y="201168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0" name="Text 24"/>
          <p:cNvSpPr/>
          <p:nvPr/>
        </p:nvSpPr>
        <p:spPr>
          <a:xfrm>
            <a:off x="10259568" y="20116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08" y="2788920"/>
            <a:ext cx="384048" cy="38404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19488" y="3291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656064" y="3886200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hub, 3PL and seller-incentive actions a PE operating team can execute.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SQL (PostgreSQL star schema), Python/pandas for analysis, and Power BI for the management dashboard.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(2016–2018)  ·  delivered orders only</a:t>
            </a:r>
            <a:endParaRPr lang="en-US" sz="850" dirty="0"/>
          </a:p>
        </p:txBody>
      </p:sp>
      <p:sp>
        <p:nvSpPr>
          <p:cNvPr id="36" name="Text 29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  ·  THE 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On-time looks strong, but lateness is uneven across regions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470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194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92.1%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594360" y="26700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88920" y="164592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184708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34640" y="2194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7.9%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2834640" y="26700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0" y="164592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184708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74920" y="2194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12.5d</a:t>
            </a:r>
            <a:endParaRPr lang="en-US" sz="2300" dirty="0"/>
          </a:p>
        </p:txBody>
      </p:sp>
      <p:sp>
        <p:nvSpPr>
          <p:cNvPr id="15" name="Text 10"/>
          <p:cNvSpPr/>
          <p:nvPr/>
        </p:nvSpPr>
        <p:spPr>
          <a:xfrm>
            <a:off x="5074920" y="26700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269480" y="164592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184708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5200" y="2194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9.2d</a:t>
            </a:r>
            <a:endParaRPr lang="en-US" sz="2300" dirty="0"/>
          </a:p>
        </p:txBody>
      </p:sp>
      <p:sp>
        <p:nvSpPr>
          <p:cNvPr id="19" name="Text 13"/>
          <p:cNvSpPr/>
          <p:nvPr/>
        </p:nvSpPr>
        <p:spPr>
          <a:xfrm>
            <a:off x="7315200" y="26700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transit (last-mile)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9509760" y="164592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2" y="1847088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55480" y="21945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1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R$ 1,351,431</a:t>
            </a:r>
            <a:endParaRPr lang="en-US" sz="2300" dirty="0"/>
          </a:p>
        </p:txBody>
      </p:sp>
      <p:sp>
        <p:nvSpPr>
          <p:cNvPr id="23" name="Text 16"/>
          <p:cNvSpPr/>
          <p:nvPr/>
        </p:nvSpPr>
        <p:spPr>
          <a:xfrm>
            <a:off x="9555480" y="26700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050" dirty="0"/>
          </a:p>
        </p:txBody>
      </p:sp>
      <p:pic>
        <p:nvPicPr>
          <p:cNvPr id="24" name="Image 5" descr="../outputs/chart_state_l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246120"/>
            <a:ext cx="6766560" cy="315468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635240" y="3383280"/>
            <a:ext cx="3977640" cy="2926080"/>
          </a:xfrm>
          <a:prstGeom prst="roundRect">
            <a:avLst>
              <a:gd name="adj" fmla="val 1875"/>
            </a:avLst>
          </a:prstGeom>
          <a:solidFill>
            <a:srgbClr val="0B2545"/>
          </a:solidFill>
          <a:ln/>
        </p:spPr>
      </p:sp>
      <p:sp>
        <p:nvSpPr>
          <p:cNvPr id="26" name="Text 18"/>
          <p:cNvSpPr/>
          <p:nvPr/>
        </p:nvSpPr>
        <p:spPr>
          <a:xfrm>
            <a:off x="7863840" y="3566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chart says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7882128" y="39776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Maranhão (MA) is a clear outlier at 23.6% late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carries the most volume and sits right at the national line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states beat the 7.9% benchmark — the problem is the tail, not the average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(2016–2018)  ·  delivered orders only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·  CUSTOMER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late delivery doesn't just slip a date — it halves the review</a:t>
            </a:r>
            <a:endParaRPr lang="en-US" sz="2600" dirty="0"/>
          </a:p>
        </p:txBody>
      </p:sp>
      <p:pic>
        <p:nvPicPr>
          <p:cNvPr id="4" name="Image 0" descr="../outputs/chart_review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493776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828800"/>
            <a:ext cx="5669280" cy="1207008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2212848"/>
            <a:ext cx="420624" cy="4206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12280" y="197510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4.29 → 2.57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812280" y="248716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 collapses when an order arrives late.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943600" y="3182112"/>
            <a:ext cx="5669280" cy="1207008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3566160"/>
            <a:ext cx="420624" cy="4206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12280" y="332841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 → 54%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812280" y="38404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1–2★ reviews jumps almost six-fold on late orders.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943600" y="4535424"/>
            <a:ext cx="5669280" cy="1207008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4919472"/>
            <a:ext cx="420624" cy="4206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12280" y="46817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8.8%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6812280" y="51937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(R$ 1,351,431) sits on orders that were delivered late.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5943600" y="59436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late delivery is the network's single biggest driver of customer dissatisfaction — and the leading indicator of churn. Reliability is a revenue lever, not just an ops metric.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(2016–2018)  ·  delivered orders only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FRAMEWORK  ·  SEGMENTATION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Seller Performance Matrix: where to act, and where to protect</a:t>
            </a:r>
            <a:endParaRPr lang="en-US" sz="2600" dirty="0"/>
          </a:p>
        </p:txBody>
      </p:sp>
      <p:pic>
        <p:nvPicPr>
          <p:cNvPr id="4" name="Image 0" descr="../outputs/chart_seller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2179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78308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14032" y="1965960"/>
            <a:ext cx="237744" cy="23774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7" name="Text 4"/>
          <p:cNvSpPr/>
          <p:nvPr/>
        </p:nvSpPr>
        <p:spPr>
          <a:xfrm>
            <a:off x="7424928" y="1929384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32320" y="2331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912 sellers · 53.2% rev · 2.7% late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32320" y="2971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grow. The reliable revenue core.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326880" y="178308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491472" y="1965960"/>
            <a:ext cx="237744" cy="237744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12" name="Text 9"/>
          <p:cNvSpPr/>
          <p:nvPr/>
        </p:nvSpPr>
        <p:spPr>
          <a:xfrm>
            <a:off x="9802368" y="1929384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Immediately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509760" y="2331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609 sellers · 40.7% rev · 15.9% late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509760" y="29718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volume, poor delivery. The priority lever.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949440" y="384048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114032" y="4023360"/>
            <a:ext cx="237744" cy="237744"/>
          </a:xfrm>
          <a:prstGeom prst="ellipse">
            <a:avLst/>
          </a:prstGeom>
          <a:solidFill>
            <a:srgbClr val="E1A100"/>
          </a:solidFill>
          <a:ln/>
        </p:spPr>
      </p:sp>
      <p:sp>
        <p:nvSpPr>
          <p:cNvPr id="17" name="Text 14"/>
          <p:cNvSpPr/>
          <p:nvPr/>
        </p:nvSpPr>
        <p:spPr>
          <a:xfrm>
            <a:off x="7424928" y="3986784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132320" y="4389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 sellers · 1.8% rev · 46.9% late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132320" y="5029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volume, unreliable. Watch, don't over-invest.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326880" y="3840480"/>
            <a:ext cx="2240280" cy="1874520"/>
          </a:xfrm>
          <a:prstGeom prst="roundRect">
            <a:avLst>
              <a:gd name="adj" fmla="val 292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491472" y="4023360"/>
            <a:ext cx="237744" cy="237744"/>
          </a:xfrm>
          <a:prstGeom prst="ellipse">
            <a:avLst/>
          </a:prstGeom>
          <a:solidFill>
            <a:srgbClr val="2E6CB5"/>
          </a:solidFill>
          <a:ln/>
        </p:spPr>
      </p:sp>
      <p:sp>
        <p:nvSpPr>
          <p:cNvPr id="22" name="Text 19"/>
          <p:cNvSpPr/>
          <p:nvPr/>
        </p:nvSpPr>
        <p:spPr>
          <a:xfrm>
            <a:off x="9802368" y="3986784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6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509760" y="4389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1178 sellers · 4.4% rev · good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509760" y="5029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volume, reliable. Keep steady.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(2016–2018)  ·  delivered orders only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VALUE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Two-fifths of revenue runs through sellers that deliver late</a:t>
            </a:r>
            <a:endParaRPr lang="en-US" sz="2600" dirty="0"/>
          </a:p>
        </p:txBody>
      </p:sp>
      <p:pic>
        <p:nvPicPr>
          <p:cNvPr id="4" name="Image 0" descr="../outputs/chart_quadrant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4864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828800"/>
            <a:ext cx="5120640" cy="1691640"/>
          </a:xfrm>
          <a:prstGeom prst="roundRect">
            <a:avLst>
              <a:gd name="adj" fmla="val 324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20840" y="19659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40.7%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412480" y="201168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flows through the 609 'Fix Immediately' sellers — the highest-leverage population in the network.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0" y="374904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 news: leverage is concentrated.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a few hundred high-volume sellers — not thousands — moves the whole network. Their revenue base is R$ 6,273,394.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watch-out: don't chase the tail.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'Monitor' group looks alarming at 46.9% late but is &lt;2% of revenue — cheap to manage, wrong place to spend effort.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(2016–2018)  ·  delivered orders only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bottleneck is the last mile — and distance, not product size</a:t>
            </a:r>
            <a:endParaRPr lang="en-US" sz="2600" dirty="0"/>
          </a:p>
        </p:txBody>
      </p:sp>
      <p:pic>
        <p:nvPicPr>
          <p:cNvPr id="4" name="Image 0" descr="../outputs/chart_root_ca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949440" cy="2788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773168"/>
            <a:ext cx="310896" cy="3108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1560" y="4690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is the primary driver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51560" y="4983480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Cross-state orders are late 9% vs 6% same-state. Long-haul routes dominate the failure cases.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773168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83680" y="4690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is the time sink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583680" y="4983480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is 74% of total lead time; seller processing is only ~3.3 days. The carrier leg is where it's lost.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669280"/>
            <a:ext cx="310896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51560" y="558698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execution is real &amp; separable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051560" y="5879592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São Paulo alone, sellers range from 4% to 14% late — same geography, different discipline.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5669280"/>
            <a:ext cx="310896" cy="3108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83680" y="558698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size is a minor factor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6583680" y="5879592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items are only slightly more late than light ones. Not the lever to pull first.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(2016–2018)  ·  delivered orders only</a:t>
            </a:r>
            <a:endParaRPr lang="en-US" sz="850" dirty="0"/>
          </a:p>
        </p:txBody>
      </p:sp>
      <p:sp>
        <p:nvSpPr>
          <p:cNvPr id="18" name="Text 11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moves, sequenced from quick wins to structural change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38528"/>
            <a:ext cx="548640" cy="54864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391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3794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performance program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194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609 'Fix Immediately' sellers on SLAs with incentives for on-time hand-off and penalties for repeat misses. Fastest, cheapest lever.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012680" y="2002536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2E8B57"/>
          </a:solidFill>
          <a:ln/>
        </p:spPr>
      </p:sp>
      <p:sp>
        <p:nvSpPr>
          <p:cNvPr id="10" name="Text 7"/>
          <p:cNvSpPr/>
          <p:nvPr/>
        </p:nvSpPr>
        <p:spPr>
          <a:xfrm>
            <a:off x="10012680" y="2002536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862072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3108960"/>
            <a:ext cx="548640" cy="548640"/>
          </a:xfrm>
          <a:prstGeom prst="ellipse">
            <a:avLst/>
          </a:prstGeom>
          <a:solidFill>
            <a:srgbClr val="2E6CB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20954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300837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3PL contracts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508760" y="33649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owns 74% of lead time. Re-tender carrier contracts on the worst long-haul lanes; tie pricing to delivery-window adherence.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10012680" y="3172968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2E6CB5"/>
          </a:solidFill>
          <a:ln/>
        </p:spPr>
      </p:sp>
      <p:sp>
        <p:nvSpPr>
          <p:cNvPr id="17" name="Text 13"/>
          <p:cNvSpPr/>
          <p:nvPr/>
        </p:nvSpPr>
        <p:spPr>
          <a:xfrm>
            <a:off x="10012680" y="317296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" y="4032504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4279392"/>
            <a:ext cx="548640" cy="548640"/>
          </a:xfrm>
          <a:prstGeom prst="ellipse">
            <a:avLst/>
          </a:prstGeom>
          <a:solidFill>
            <a:srgbClr val="E1A10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379976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08760" y="41788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delivery zones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508760" y="453542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Cross-state shipping drives lateness. Re-map zones and pre-position inventory to cut the long-haul share of orders.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10012680" y="4343400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E1A100"/>
          </a:solidFill>
          <a:ln/>
        </p:spPr>
      </p:sp>
      <p:sp>
        <p:nvSpPr>
          <p:cNvPr id="24" name="Text 19"/>
          <p:cNvSpPr/>
          <p:nvPr/>
        </p:nvSpPr>
        <p:spPr>
          <a:xfrm>
            <a:off x="10012680" y="4343400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months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" y="5202936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77240" y="5449824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5550408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08760" y="5349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logistics hubs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508760" y="570585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the acquired partners onto fewer, better-run hubs near demand centres (esp. the SP corridor) to structurally lower transit time.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10012680" y="5513832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0B2545"/>
          </a:solidFill>
          <a:ln/>
        </p:spPr>
      </p:sp>
      <p:sp>
        <p:nvSpPr>
          <p:cNvPr id="31" name="Text 25"/>
          <p:cNvSpPr/>
          <p:nvPr/>
        </p:nvSpPr>
        <p:spPr>
          <a:xfrm>
            <a:off x="10012680" y="5513832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months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(2016–2018)  ·  delivered orders only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'Fix Immediately' gap to benchmark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13315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8424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−23%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96112" y="27706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late deliveries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10896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the worst high-volume sellers to the national benchmark removes roughly a quarter of all lateness.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13315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98424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7.9% → 6.1%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65392" y="27706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late rate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310896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late-delivery rate falls without touching the reliable majority of the network.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13315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22452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~1,999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96112" y="50109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orders recovered/yr-equiv.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534924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a review saved and a churn risk removed — the compounding upside.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13315C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422452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R$ 279,689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565392" y="50109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exposure protected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65392" y="534924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AE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exposed revenue on recovered orders — before second-order churn and reputation effects.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are indicative, built from the dataset's own benchmarks — directional sizing to prioritise action, not a guaranteed forecast.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STORY  ·  "TELL ME ABOUT THIS PROJECT"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walk through this in 90 seconds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920240" cy="841248"/>
          </a:xfrm>
          <a:prstGeom prst="roundRect">
            <a:avLst>
              <a:gd name="adj" fmla="val 6522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97480" y="1645920"/>
            <a:ext cx="8915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 firm acquired several small Brazilian logistics partners and needed to know which hubs were underperforming, what it was costing, and where to intervene first.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96896"/>
            <a:ext cx="1920240" cy="841248"/>
          </a:xfrm>
          <a:prstGeom prst="roundRect">
            <a:avLst>
              <a:gd name="adj" fmla="val 6522"/>
            </a:avLst>
          </a:prstGeom>
          <a:solidFill>
            <a:srgbClr val="2E6CB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96896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697480" y="2596896"/>
            <a:ext cx="8915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modelled 7 Olist tables into a star schema, built delivery KPIs in SQL, then layered on a seller performance matrix, a risk score, and a root-cause decomposition in Python.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547872"/>
            <a:ext cx="1920240" cy="841248"/>
          </a:xfrm>
          <a:prstGeom prst="roundRect">
            <a:avLst>
              <a:gd name="adj" fmla="val 6522"/>
            </a:avLst>
          </a:prstGeom>
          <a:solidFill>
            <a:srgbClr val="E1A1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47872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3547872"/>
            <a:ext cx="8915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segmented lateness by region, seller and product, isolated processing vs transit time, and tested whether delays were driven by geography, size or seller execution.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498848"/>
            <a:ext cx="1920240" cy="841248"/>
          </a:xfrm>
          <a:prstGeom prst="roundRect">
            <a:avLst>
              <a:gd name="adj" fmla="val 6522"/>
            </a:avLst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98848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97480" y="4498848"/>
            <a:ext cx="8915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wasn't the 92.1% average — it was that 40.7% of revenue ran through late high-volume sellers, the last mile owned 74% of lead time, and lateness halved reviews.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449824"/>
            <a:ext cx="1920240" cy="841248"/>
          </a:xfrm>
          <a:prstGeom prst="roundRect">
            <a:avLst>
              <a:gd name="adj" fmla="val 6522"/>
            </a:avLst>
          </a:prstGeom>
          <a:solidFill>
            <a:srgbClr val="C1272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49824"/>
            <a:ext cx="1920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5449824"/>
            <a:ext cx="8915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sized a focused fix at ~23% fewer late deliveries and built a Power BI dashboard so the operating team could track it by hub.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(2016–2018)  ·  delivered orders only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6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diagnostic to decision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3055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3911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Delivery-delay prediction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on order, route and product features to flag at-risk orders before they ship — moving from reporting late to preventing late.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178308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201168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1305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203911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volume forecasting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80560" y="2697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forecasts per hub to plan capacity and pre-position inventory ahead of peaks.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55280" y="178308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83880" y="201168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13055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203911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Hub-location optimisation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183880" y="26974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geolocation data for a facility-location / network model that minimises expected transit time.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27939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18795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simulation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77240" y="4846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Monte-Carlo the network to stress-test 'what if a hub fails' and quantify resilience before committing capital.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51960" y="393192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80560" y="416052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9432" y="427939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418795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linkage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80560" y="4846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review and repeat-purchase behaviour to put a hard R$ value on each late delivery.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55280" y="3931920"/>
            <a:ext cx="3520440" cy="1920240"/>
          </a:xfrm>
          <a:prstGeom prst="roundRect">
            <a:avLst>
              <a:gd name="adj" fmla="val 2857"/>
            </a:avLst>
          </a:prstGeom>
          <a:solidFill>
            <a:srgbClr val="F4F7F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83880" y="416052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427939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69680" y="4187952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 alerting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183880" y="4846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Power BI model to scheduled refresh with threshold alerts for the operating partner.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(2016–2018)  ·  delivered orders only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Supply Chain &amp; Delivery Performance</dc:title>
  <dc:subject>PptxGenJS Presentation</dc:subject>
  <dc:creator>Portfolio Project</dc:creator>
  <cp:lastModifiedBy>Portfolio Project</cp:lastModifiedBy>
  <cp:revision>1</cp:revision>
  <dcterms:created xsi:type="dcterms:W3CDTF">2026-06-25T12:10:57Z</dcterms:created>
  <dcterms:modified xsi:type="dcterms:W3CDTF">2026-06-25T12:10:57Z</dcterms:modified>
</cp:coreProperties>
</file>